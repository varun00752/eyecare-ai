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D9488"/>
                </a:solidFill>
                <a:latin typeface="Arial"/>
              </a:defRPr>
            </a:pPr>
            <a:r>
              <a:t>HEALTHCARE AI &amp; CLINICAL WEB PLATFORM</a:t>
            </a:r>
          </a:p>
          <a:p>
            <a:pPr>
              <a:spcAft>
                <a:spcPts val="1000"/>
              </a:spcAft>
              <a:defRPr sz="5000" b="1">
                <a:solidFill>
                  <a:srgbClr val="FFFFFF"/>
                </a:solidFill>
                <a:latin typeface="Arial"/>
              </a:defRPr>
            </a:pPr>
            <a:r>
              <a:t>EyeCare AI</a:t>
            </a:r>
          </a:p>
          <a:p>
            <a:pPr>
              <a:defRPr sz="2000">
                <a:solidFill>
                  <a:srgbClr val="CBD5E1"/>
                </a:solidFill>
                <a:latin typeface="Arial"/>
              </a:defRPr>
            </a:pPr>
            <a:r>
              <a:t>Automated Diabetic Retinopathy Screening, Explainable AI &amp; Integrated Eye Care Ecosystem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114800"/>
            <a:ext cx="10332720" cy="2011680"/>
          </a:xfrm>
          <a:prstGeom prst="roundRect">
            <a:avLst/>
          </a:prstGeom>
          <a:solidFill>
            <a:srgbClr val="182E52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4297680"/>
            <a:ext cx="9784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FFFFF"/>
                </a:solidFill>
                <a:latin typeface="Arial"/>
              </a:defRPr>
            </a:pPr>
            <a:r>
              <a:t>• Domain: Deep Learning (Computer Vision), Healthcare Informatics &amp; Full-Stack Web Architecture</a:t>
            </a:r>
          </a:p>
          <a:p>
            <a:pPr>
              <a:spcAft>
                <a:spcPts val="800"/>
              </a:spcAft>
              <a:defRPr sz="1400">
                <a:solidFill>
                  <a:srgbClr val="E2E8F0"/>
                </a:solidFill>
                <a:latin typeface="Arial"/>
              </a:defRPr>
            </a:pPr>
            <a:r>
              <a:t>• Core Technologies: EfficientNet-B0, OpenCV (CLAHE), Grad-CAM Explainability, Flask, Bootstrap 5, SQLite / Render</a:t>
            </a:r>
          </a:p>
          <a:p>
            <a:pPr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Live Web Application: https://eyecare-ai-9iwj.onrender.com   |   GitHub: Varun00752/EyeCare-AI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PROJECT OVERVIEW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Table of Contents / Presentation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83080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71907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Introduction &amp; Problem Statement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Diabetic Retinopathy burden &amp; clinical bottleneck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50592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587752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23744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Project Objectives &amp; Scope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Assistive screening, 3-tier user ecosystem &amp; disclaimers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55264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392424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28416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System Architecture &amp; Workflow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Layered client-server-inference pipeline &amp; execution flow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059936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197096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413308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Deep Learning Pipeline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APTOS 2019 dataset, EfficientNet-B0 &amp; transfer learning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864608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001768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937760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Preprocessing &amp; Fundus Validation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Black border cropping, CLAHE contrast &amp; input guardrails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512064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5806440"/>
            <a:ext cx="502920" cy="43891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742432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Explainable AI (Grad-CAM)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Visual activation heatmaps for diagnostic transparency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645920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55080" y="1783080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1719072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DR Grading Scale &amp; Clinical Advice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Grades 0 to 4 classification with automated triage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450592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5080" y="2587752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2523744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Platform Modules &amp; User Roles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Patient portal, Hospital provider dashboard &amp; Admin panel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255264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80" y="3392424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3328416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Hospital Directory &amp; Price Engine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Filtering by city/procedure &amp; transparent price comparison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4059936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55080" y="4197096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133088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Database Schema &amp; System Security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Relational entities, password hashing &amp; role-based access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4864608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5001768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937760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Testing, Evaluation &amp; Deployment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Validation test suite, QWK metric &amp; live cloud deployment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5669280"/>
            <a:ext cx="5212080" cy="71323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55080" y="5806440"/>
            <a:ext cx="502920" cy="438912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49440" y="5742432"/>
            <a:ext cx="4389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2240"/>
                </a:solidFill>
                <a:latin typeface="Arial"/>
              </a:defRPr>
            </a:pPr>
            <a:r>
              <a:t>Future Scope &amp; Conclusion</a:t>
            </a:r>
          </a:p>
          <a:p>
            <a:pPr>
              <a:defRPr sz="1050">
                <a:solidFill>
                  <a:srgbClr val="64748B"/>
                </a:solidFill>
                <a:latin typeface="Arial"/>
              </a:defRPr>
            </a:pPr>
            <a:r>
              <a:t>Mobile edge integration, lesion segmentation &amp;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CLINICAL BACKGROUND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Introduction &amp; Clinical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D9488"/>
                </a:solidFill>
              </a:defRPr>
            </a:pPr>
            <a:r>
              <a:t>DIABETIC RETINOPATHY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Major complication of chronic diabetes damaging retinal blood vessels.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Over 77 Million diabetics in India; 1 in 3 develops DR symptoms.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Primary cause of irreversible adult blindness globally.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Early stages are completely asymptomatic, leading to late discovery.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Timely screening prevents up to 95% of severe vision loss.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A580C"/>
                </a:solidFill>
              </a:defRPr>
            </a:pPr>
            <a:r>
              <a:t>HEALTHCARE BOTTLENECKS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Extreme Specialist Shortage: ~1 retinal specialist per 100,000 people in rural areas.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High Examination Backlog: Dilated fundus exams take 20-30 mins per patient.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Financial Opacity: Eye care procedures (Laser, Anti-VEGF) have extreme price variance.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Lack of Unified Access: Disconnected screening, reporting, and hospital booking systems.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F2240"/>
                </a:solidFill>
              </a:defRPr>
            </a:pPr>
            <a:r>
              <a:t>THE EYECARE AI SOLUTION</a:t>
            </a:r>
          </a:p>
          <a:p>
            <a:pPr>
              <a:spcAft>
                <a:spcPts val="800"/>
              </a:spcAft>
              <a:defRPr sz="1200">
                <a:solidFill>
                  <a:srgbClr val="0F2240"/>
                </a:solidFill>
              </a:defRPr>
            </a:pPr>
            <a:r>
              <a:t>• Rapid Automated Triage: Instant grading (Grades 0-4) under 2 seconds.</a:t>
            </a:r>
          </a:p>
          <a:p>
            <a:pPr>
              <a:spcAft>
                <a:spcPts val="800"/>
              </a:spcAft>
              <a:defRPr sz="1200">
                <a:solidFill>
                  <a:srgbClr val="0F2240"/>
                </a:solidFill>
              </a:defRPr>
            </a:pPr>
            <a:r>
              <a:t>• Visual Explainability: Grad-CAM heatmap highlights vascular lesions for clinician trust.</a:t>
            </a:r>
          </a:p>
          <a:p>
            <a:pPr>
              <a:spcAft>
                <a:spcPts val="800"/>
              </a:spcAft>
              <a:defRPr sz="1200">
                <a:solidFill>
                  <a:srgbClr val="0F2240"/>
                </a:solidFill>
              </a:defRPr>
            </a:pPr>
            <a:r>
              <a:t>• Transparent Hospital Directory: Filter by city &amp; compare procedure costs.</a:t>
            </a:r>
          </a:p>
          <a:p>
            <a:pPr>
              <a:spcAft>
                <a:spcPts val="800"/>
              </a:spcAft>
              <a:defRPr sz="1200">
                <a:solidFill>
                  <a:srgbClr val="0F2240"/>
                </a:solidFill>
              </a:defRPr>
            </a:pPr>
            <a:r>
              <a:t>• Integrated Care Pathway: Book verified appointments and export clinical PDF reports.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PROJECT GOALS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Project Objectives &amp; 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AI-POWERED RETINAL SCREENING</a:t>
            </a:r>
          </a:p>
          <a:p>
            <a:pPr>
              <a:spcAft>
                <a:spcPts val="400"/>
              </a:spcAft>
              <a:defRPr b="1" sz="1400">
                <a:solidFill>
                  <a:srgbClr val="0F2240"/>
                </a:solidFill>
              </a:defRPr>
            </a:pPr>
            <a:r>
              <a:t>Automated 5-Grade DR Classification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Predict Diabetic Retinopathy severity from fundus photographs.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Classify into standard grades: 0 (No DR) to 4 (Proliferative DR).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Generate instant confidence probabilities for clinical evaluation.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EXPLAINABILITY &amp; TRUST</a:t>
            </a:r>
          </a:p>
          <a:p>
            <a:pPr>
              <a:spcAft>
                <a:spcPts val="400"/>
              </a:spcAft>
              <a:defRPr b="1" sz="1400">
                <a:solidFill>
                  <a:srgbClr val="0F2240"/>
                </a:solidFill>
              </a:defRPr>
            </a:pPr>
            <a:r>
              <a:t>Grad-CAM Heatmap Visualization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Generate class activation maps highlighting lesion hotspots.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Visual validation of microaneurysms, hemorrhages, and exudates.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Overcomes black-box AI limitations to foster medical confidence.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PRE-SCREENING QUALITY ASSURANCE</a:t>
            </a:r>
          </a:p>
          <a:p>
            <a:pPr>
              <a:spcAft>
                <a:spcPts val="400"/>
              </a:spcAft>
              <a:defRPr b="1" sz="1400">
                <a:solidFill>
                  <a:srgbClr val="0F2240"/>
                </a:solidFill>
              </a:defRPr>
            </a:pPr>
            <a:r>
              <a:t>Robust Fundus Photo Guardrail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Validate circular retinal orange-red hue and dark outer borders.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Block non-fundus uploads (documents, natural scenes, random noise).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Prevents garbage-in/garbage-out before neural network computation.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21208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8463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D9488"/>
                </a:solidFill>
              </a:defRPr>
            </a:pPr>
            <a:r>
              <a:t>CONNECTED HEALTHCARE ECOSYSTEM</a:t>
            </a:r>
          </a:p>
          <a:p>
            <a:pPr>
              <a:spcAft>
                <a:spcPts val="400"/>
              </a:spcAft>
              <a:defRPr b="1" sz="1400">
                <a:solidFill>
                  <a:srgbClr val="0F2240"/>
                </a:solidFill>
              </a:defRPr>
            </a:pPr>
            <a:r>
              <a:t>Directory, Price Engine &amp; PDF Reports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Connect patients directly with approved eye care hospitals.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Search and compare prices for Cataract, LASIK, Retinal Lasers.</a:t>
            </a:r>
          </a:p>
          <a:p>
            <a:pPr>
              <a:spcAft>
                <a:spcPts val="300"/>
              </a:spcAft>
              <a:defRPr sz="1150">
                <a:solidFill>
                  <a:srgbClr val="1E293B"/>
                </a:solidFill>
              </a:defRPr>
            </a:pPr>
            <a:r>
              <a:t>• Download clinical-grade PDF reports with doctor advice.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SYSTEM DESIGN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End-to-End System Architecture &amp;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73936"/>
            <a:ext cx="1005840" cy="548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7373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2240"/>
                </a:solidFill>
              </a:defRPr>
            </a:pPr>
            <a:r>
              <a:t>Image Input &amp; Guardrail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Patient uploads fundus scan. Validate extension, 5MB limit &amp; dark border/retinal hue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688336"/>
            <a:ext cx="10058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2240"/>
                </a:solidFill>
              </a:defRPr>
            </a:pPr>
            <a:r>
              <a:t>OpenCV Preprocessing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Crop black dead margins, resize to 256x256, apply LAB CLAHE contrast enhancement.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602736"/>
            <a:ext cx="1005840" cy="548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566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2240"/>
                </a:solidFill>
              </a:defRPr>
            </a:pPr>
            <a:r>
              <a:t>Deep Learning Model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EfficientNet-B0 extracts feature representations and computes grade probabilities (0-4).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517136"/>
            <a:ext cx="1005840" cy="548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Step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44805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2240"/>
                </a:solidFill>
              </a:defRPr>
            </a:pPr>
            <a:r>
              <a:t>Grad-CAM Heatmap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Backpropagate gradients to final conv layer; synthesize Jet colormap heatmap overlay.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431536"/>
            <a:ext cx="1005840" cy="54864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200">
                <a:solidFill>
                  <a:srgbClr val="FFFFFF"/>
                </a:solidFill>
              </a:defRPr>
            </a:pPr>
            <a:r>
              <a:t>Step 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3949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2240"/>
                </a:solidFill>
              </a:defRPr>
            </a:pPr>
            <a:r>
              <a:t>Triage &amp; Healthcare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Save scan to database, show clinical advice, trigger hospital recommendations &amp; PDF.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DEEP LEARNING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Machine Learning Pipeline &amp; Transfer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DATASET &amp; AUGMENTATION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Dataset: APTOS 2019 Blindness Detection benchmark (3,662 clinical fundus images).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Severe Class Imbalance: Grade 0 (No DR) represents &gt;49% of all samples.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Addressed via Class Weighting in loss calculation during model training.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Data Augmentation: Random rotations (±20°), horizontal &amp; vertical flips, zoom (0.8x-1.2x) to prevent overfitting.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2240"/>
                </a:solidFill>
              </a:defRPr>
            </a:pPr>
            <a:r>
              <a:t>EFFICIENTNET-B0 BACKBONE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Why EfficientNet-B0? Optimal balance of parameter efficiency (5.3M params) and high top-1 accuracy.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Transfer Learning: Pre-trained ImageNet weights capture low-level retinal edge &amp; vessel textures.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Compound Scaling: Balances network depth, width, and resolution.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Head Architecture: GlobalAveragePooling2D -&gt; BatchNormalization -&gt; Dropout(0.3) -&gt; Dense(5, Softmax).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OPENCV PREPROCESSING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Border Cropping: Strips dead black margins surrounding the circular camera aperture.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Standardized Resizing: Standardized to 256x256 resolution using INTER_AREA interpolation.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CLAHE Enhancement: Contrast Limited Adaptive Histogram Equalization applied to L-channel of LAB color space.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Clinical Benefit: Sharpened microaneurysms, hemorrhages, and hard exudates against retinal background.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QUALITY &amp; TRUST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Pre-Screening Fundus Validation &amp; Grad-CAM Explainability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EA580C"/>
                </a:solidFill>
              </a:defRPr>
            </a:pPr>
            <a:r>
              <a:t>INPUT RETINAL PHOTO VALIDATION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Problem: Uploading non-retinal images (selfies, documents, scenery) can produce arbitrary predictions.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Solution: Rule-based algorithmic check executed prior to loading neural networks.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Corner Darkness Check: Inspects 4 corner margins ensuring dark surrounding border (corner_mean &lt; 55).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Retinal Hue &amp; Illumination: Verifies central red-orange dominance (R &gt; 50, R &gt; 1.25*B) and HSV hue coverage.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Strict Fail-Safe: Immediately halts execution with exact message: 'This does not look like a retinal image. Please upload a fundus photograph.'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2240"/>
                </a:solidFill>
              </a:defRPr>
            </a:pPr>
            <a:r>
              <a:t>EXPLAINABLE AI WITH GRAD-CAM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Gradient-Weighted Class Activation Mapping (Grad-CAM): Visual explainability for convolutional models.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Mathematical Principle: Computes gradients of the target class score w.r.t the feature maps of the final convolutional layer (top_conv).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Global Average Pooling of Gradients: Weights importance of each feature map.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Heatmap Synthesis: ReLU activation isolates positive influence; normalized and colorized with Jet colormap.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Clinical Value: Proves model focused on actual hemorrhages &amp; exudates rather than irrelevant artifacts.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DIAGNOSTIC TRIAGE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Clinical Diabetic Retinopathy Grading &amp; Automated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773936"/>
            <a:ext cx="1371600" cy="54864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Grade 0: No DR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719072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240"/>
                </a:solidFill>
              </a:defRPr>
            </a:pPr>
            <a:r>
              <a:t>Pathology: No microaneurysms or retinal lesions detected.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Recommendation: Repeat annual screening every 12 months.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688336"/>
            <a:ext cx="1371600" cy="5486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Grade 1: Mild NPDR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633472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240"/>
                </a:solidFill>
              </a:defRPr>
            </a:pPr>
            <a:r>
              <a:t>Pathology: Microaneurysms only. Small capillary outpouchings.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Recommendation: Control blood sugar (HbA1c); re-screen in 6-12 months.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602736"/>
            <a:ext cx="1371600" cy="5486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Grade 2: Moderate NPDR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40" y="3547872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240"/>
                </a:solidFill>
              </a:defRPr>
            </a:pPr>
            <a:r>
              <a:t>Pathology: Microaneurysms, cotton wool spots, intraretinal hemorrhages.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Recommendation: Consult ophthalmologist within 1-3 months.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517136"/>
            <a:ext cx="1371600" cy="5486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Grade 3: Severe NPDR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4462272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240"/>
                </a:solidFill>
              </a:defRPr>
            </a:pPr>
            <a:r>
              <a:t>Pathology: 20+ hemorrhages in 4 quadrants, venous beading, IRMA.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Recommendation: Urgent specialist consultation within 2-4 weeks.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698480" cy="804672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5431536"/>
            <a:ext cx="1371600" cy="5486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Grade 4: Proliferative DR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77440" y="5376672"/>
            <a:ext cx="8869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50">
                <a:solidFill>
                  <a:srgbClr val="0F2240"/>
                </a:solidFill>
              </a:defRPr>
            </a:pPr>
            <a:r>
              <a:t>Pathology: Neovascularization (fragile new vessels) or vitreous bleed.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Clinical Recommendation: Immediate sight-saving specialist intervention.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USER PORTALS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Platform Modules &amp; 3-Tier Role-Based Portals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D9488"/>
                </a:solidFill>
              </a:defRPr>
            </a:pPr>
            <a:r>
              <a:t>PATIENT PORTAL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Registration &amp; Profile: Age, gender, diabetes duration tracking.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Scan Upload &amp; Analysis: Instant DR prediction &amp; Grad-CAM visualizer.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Scan History &amp; Timeline: Longitudinal tracking of retinal health.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Downloadable PDF Report: Complete clinical record for doctor visits.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Appointment Booking: Book visits directly with matched hospitals.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0F2240"/>
                </a:solidFill>
              </a:defRPr>
            </a:pPr>
            <a:r>
              <a:t>HOSPITAL PORTAL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Provider Profile Management: Accreditation, address, contact details.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Procedure &amp; Pricing Catalog: Publish transparent min/max pricing.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Appointment Dashboard: Manage incoming requests in real-time.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Action Status: Accept or reject bookings with instant patient sync.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Quality Assurance: Hospital account requires admin approval before live.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00">
                <a:solidFill>
                  <a:srgbClr val="EA580C"/>
                </a:solidFill>
              </a:defRPr>
            </a:pPr>
            <a:r>
              <a:t>ADMIN PORTAL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System Analytics Dashboard: Real-time scan counts, patient growth.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Hospital Accreditation Vetting: Approve or reject hospital registrations.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Audit &amp; Compliance: Ensure medical disclaimers are uniformly maintained.</a:t>
            </a:r>
          </a:p>
          <a:p>
            <a:pPr>
              <a:spcAft>
                <a:spcPts val="800"/>
              </a:spcAft>
              <a:defRPr sz="1150">
                <a:solidFill>
                  <a:srgbClr val="1E293B"/>
                </a:solidFill>
              </a:defRPr>
            </a:pPr>
            <a:r>
              <a:t>• Platform Integrity: Supervise platform procedures and security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HEALTHCARE SERVICES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Hospital Directory, Price Transparency &amp; PDF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HOSPITAL DIRECTORY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Location-Based Discovery: Filter hospitals across major cities (Mumbai, Delhi, Bangalore, etc.).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Procedure-Specific Search: Filter for DR Screening, Retinal Lasers, Anti-VEGF Injections, Cataract.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Quality Verification: Only verified, approved eye hospitals appear in search results.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Direct Contact: Phone, address, and facility descriptions provided.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2240"/>
                </a:solidFill>
              </a:defRPr>
            </a:pPr>
            <a:r>
              <a:t>PRICE TRANSPARENCY ENGINE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Transparent Ranges: Displays min and max price ranges for all eye care treatments.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Informed Decision Making: Eliminates unexpected hospital billing surprises.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Procedure Price Benchmarks: Cataract (₹15k-₹45k), Retinal Laser (₹5k-₹15k), Anti-VEGF (₹12k-₹35k).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Direct Booking: Patients book appointments with their preferred hospital immediately.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E0F2FE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CLINICAL PDF REPORTS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ReportLab Generation: Professional, clinical PDF report generated dynamically.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Comprehensive Summary: Patient demographics, scan date, predicted DR grade, confidence score.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Dual-Image Visuals: Original fundus photograph side-by-side with Grad-CAM heatmap.</a:t>
            </a:r>
          </a:p>
          <a:p>
            <a:pPr>
              <a:spcAft>
                <a:spcPts val="600"/>
              </a:spcAft>
              <a:defRPr sz="1150">
                <a:solidFill>
                  <a:srgbClr val="0F2240"/>
                </a:solidFill>
              </a:defRPr>
            </a:pPr>
            <a:r>
              <a:t>• Actionable Guidance: Specific ophthalmologist referral recommendations and medical disclaimer.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VERIFICATION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Validation Testing, Results &amp; 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SYSTEM VALIDATION &amp; METRICS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Quadratic Weighted Kappa (QWK): Preferred evaluation metric over standard accuracy because DR grades are ordinal (severe misclassifications penalized heavily).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Non-Fundus Guardrail Verification: 100% rejection rate across test suites (documents, blue skies, greenery, solid colors, noise).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Retinal Validation: Verified accurate inference on APTOS test samples across Grades 0 through 4.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Security &amp; RBAC Testing: Enforced session isolation, hashed password validation, and upload sanitization.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F2240"/>
                </a:solidFill>
              </a:defRPr>
            </a:pPr>
            <a:r>
              <a:t>LIVE CLOUD PRODUCTION SETUP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Hosting Platform: Render Cloud with automated CI/CD pipeline.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GitHub Integration: Repository synced at Varun00752/EyeCare-AI; triggers auto-deploy on main push.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Production WSGI Server: Gunicorn with optimized worker configurations.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Live URL: https://eyecare-ai-9iwj.onrender.com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End-to-End Live Verification: Confirmed real-time registration, scan upload, non-fundus rejection, and appointment workflows.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D9488"/>
                </a:solidFill>
                <a:latin typeface="Arial"/>
              </a:defRPr>
            </a:pPr>
            <a:r>
              <a:t>SUMMARY</a:t>
            </a:r>
          </a:p>
          <a:p>
            <a:pPr>
              <a:defRPr sz="2600" b="1">
                <a:solidFill>
                  <a:srgbClr val="0F2240"/>
                </a:solidFill>
                <a:latin typeface="Arial"/>
              </a:defRPr>
            </a:pPr>
            <a:r>
              <a:t>Limitations, Future Enhancements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64748B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EA580C"/>
                </a:solidFill>
              </a:defRPr>
            </a:pPr>
            <a:r>
              <a:t>SYSTEM LIMITATIONS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Single-Device Dataset: APTOS represents limited camera models; requires cross-device generalization.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Assistive Boundary: Not an autonomous diagnostic instrument; clinical consultation is mandatory.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Moderate/Severe Overlap: Fine vascular differences between Grades 2 and 3 require high pixel fidelity.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Internet Dependency: Cloud inference requires active connection for remote clinics.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0D9488"/>
                </a:solidFill>
              </a:defRPr>
            </a:pPr>
            <a:r>
              <a:t>FUTURE ENHANCEMENTS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Smartphone Lens Integration: Edge AI models running directly on mobile phones with optical lenses.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Semantic Lesion Segmentation: Pixel-level segmentation masks for exudates and hemorrhages (U-Net).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Tele-Ophthalmology: Live video consultations between verified hospitals and rural clinics.</a:t>
            </a:r>
          </a:p>
          <a:p>
            <a:pPr>
              <a:spcAft>
                <a:spcPts val="600"/>
              </a:spcAft>
              <a:defRPr sz="1150">
                <a:solidFill>
                  <a:srgbClr val="1E293B"/>
                </a:solidFill>
              </a:defRPr>
            </a:pPr>
            <a:r>
              <a:t>• Multi-Condition Screening: Glaucoma cup-to-disc ratio and age-related macular degeneration (AMD).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0F2240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300">
                <a:solidFill>
                  <a:srgbClr val="FFFFFF"/>
                </a:solidFill>
              </a:defRPr>
            </a:pPr>
            <a:r>
              <a:t>CONCLUSION &amp; IMPACT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• EyeCare AI demonstrates a scalable, end-to-end healthcare pipeline combining AI triage with practical clinical access.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• Grad-CAM explainability bridges the trust gap between machine learning predictions and ophthalmologists.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• Transparent pricing and appointment booking streamline the path from early screening to sight-saving intervention.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</a:defRPr>
            </a:pPr>
            <a:r>
              <a:t>• Thank You!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